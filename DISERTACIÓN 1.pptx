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7" r:id="rId2"/>
    <p:sldId id="271" r:id="rId3"/>
    <p:sldId id="272" r:id="rId4"/>
    <p:sldId id="273" r:id="rId5"/>
    <p:sldId id="274" r:id="rId6"/>
    <p:sldId id="275" r:id="rId7"/>
    <p:sldId id="264" r:id="rId8"/>
  </p:sldIdLst>
  <p:sldSz cx="12192000" cy="6858000"/>
  <p:notesSz cx="12192000" cy="6858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B6C6"/>
    <a:srgbClr val="800080"/>
    <a:srgbClr val="CA849F"/>
    <a:srgbClr val="FDCC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Estilo claro 1 - Acento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E3FDE45-AF77-4B5C-9715-49D594BDF05E}" styleName="Estilo claro 1 - Acento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Acento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Estilo claro 1 - Acento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FD4443E-F989-4FC4-A0C8-D5A2AF1F390B}" styleName="Estilo oscuro 1 - Énfasis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D083AE6-46FA-4A59-8FB0-9F97EB10719F}" styleName="Estilo claro 3 - Acento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46F890A9-2807-4EBB-B81D-B2AA78EC7F39}" styleName="Estilo oscuro 2 - Énfasis 5/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799B23B-EC83-4686-B30A-512413B5E67A}" styleName="Estilo claro 3 - Acent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>
      <p:cViewPr>
        <p:scale>
          <a:sx n="71" d="100"/>
          <a:sy n="71" d="100"/>
        </p:scale>
        <p:origin x="696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9C32B05-62EA-407A-B21C-2310C7945705}" type="doc">
      <dgm:prSet loTypeId="urn:microsoft.com/office/officeart/2005/8/layout/chevron2" loCatId="process" qsTypeId="urn:microsoft.com/office/officeart/2005/8/quickstyle/3d2" qsCatId="3D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51680ED1-AF6E-4B28-AE94-92B0EFB0DF7D}" type="parTrans" cxnId="{2DBD26F0-8C62-45CA-A39C-DC5DD2617993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2D71409-67F9-455C-8C6D-716D284AAA6B}">
      <dgm:prSet phldrT="[Text]" custT="1"/>
      <dgm:spPr/>
      <dgm:t>
        <a:bodyPr/>
        <a:lstStyle/>
        <a:p>
          <a:r>
            <a:rPr lang="en-US" sz="1400" dirty="0">
              <a:latin typeface="Times New Roman" panose="02020603050405020304" pitchFamily="18" charset="0"/>
              <a:ea typeface="字魂36号-正文宋楷" panose="02000000000000000000" pitchFamily="2" charset="-122"/>
              <a:cs typeface="Times New Roman" panose="02020603050405020304" pitchFamily="18" charset="0"/>
              <a:sym typeface="字魂36号-正文宋楷" panose="02000000000000000000" pitchFamily="2" charset="-122"/>
            </a:rPr>
            <a:t>OB1</a:t>
          </a:r>
        </a:p>
      </dgm:t>
    </dgm:pt>
    <dgm:pt modelId="{3EE8403A-CB7C-4815-85BD-AEBCAEB71B37}" type="parTrans" cxnId="{00D623B8-F87E-42E3-A861-87D6C2B513E4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EA7219F-BDB2-48EB-9EEB-3133522D132E}">
      <dgm:prSet phldrT="[Text]" custT="1"/>
      <dgm:spPr/>
      <dgm:t>
        <a:bodyPr/>
        <a:lstStyle/>
        <a:p>
          <a:r>
            <a:rPr lang="es-MX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Determinar la eficacia in vitro de cinco productos posibles inductores de resistencia</a:t>
          </a:r>
          <a:endParaRPr lang="en-US" sz="1600" dirty="0">
            <a:latin typeface="Times New Roman" panose="02020603050405020304" pitchFamily="18" charset="0"/>
            <a:ea typeface="字魂36号-正文宋楷" panose="02000000000000000000" pitchFamily="2" charset="-122"/>
            <a:cs typeface="Times New Roman" panose="02020603050405020304" pitchFamily="18" charset="0"/>
            <a:sym typeface="字魂36号-正文宋楷" panose="02000000000000000000" pitchFamily="2" charset="-122"/>
          </a:endParaRPr>
        </a:p>
      </dgm:t>
    </dgm:pt>
    <dgm:pt modelId="{C94B7947-85DC-4B21-BB99-DF8438356F98}" type="sibTrans" cxnId="{00D623B8-F87E-42E3-A861-87D6C2B513E4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78B7D3C-9FB4-4BC6-90AC-49960560DECD}" type="sibTrans" cxnId="{2DBD26F0-8C62-45CA-A39C-DC5DD2617993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28AF1AF-3FC8-43B4-9C93-A1EED3B53B0C}" type="pres">
      <dgm:prSet presAssocID="{B9C32B05-62EA-407A-B21C-2310C7945705}" presName="linearFlow" presStyleCnt="0">
        <dgm:presLayoutVars>
          <dgm:dir/>
          <dgm:animLvl val="lvl"/>
          <dgm:resizeHandles val="exact"/>
        </dgm:presLayoutVars>
      </dgm:prSet>
      <dgm:spPr/>
    </dgm:pt>
    <dgm:pt modelId="{FC7D1A9C-A24D-46FC-8AC8-3ED1D14CDF3B}" type="pres">
      <dgm:prSet presAssocID="{42D71409-67F9-455C-8C6D-716D284AAA6B}" presName="composite" presStyleCnt="0"/>
      <dgm:spPr/>
    </dgm:pt>
    <dgm:pt modelId="{56D73168-9009-4CC1-8FAF-7ED74DF59FDD}" type="pres">
      <dgm:prSet presAssocID="{42D71409-67F9-455C-8C6D-716D284AAA6B}" presName="parentText" presStyleLbl="alignNode1" presStyleIdx="0" presStyleCnt="1">
        <dgm:presLayoutVars>
          <dgm:chMax val="1"/>
          <dgm:bulletEnabled val="1"/>
        </dgm:presLayoutVars>
      </dgm:prSet>
      <dgm:spPr/>
    </dgm:pt>
    <dgm:pt modelId="{D1B6301C-8E0C-4537-82BF-9C555B0057E4}" type="pres">
      <dgm:prSet presAssocID="{42D71409-67F9-455C-8C6D-716D284AAA6B}" presName="descendantText" presStyleLbl="alignAcc1" presStyleIdx="0" presStyleCnt="1" custScaleX="96267" custLinFactNeighborX="-1576" custLinFactNeighborY="0">
        <dgm:presLayoutVars>
          <dgm:bulletEnabled val="1"/>
        </dgm:presLayoutVars>
      </dgm:prSet>
      <dgm:spPr/>
    </dgm:pt>
  </dgm:ptLst>
  <dgm:cxnLst>
    <dgm:cxn modelId="{8EE9B01F-6B21-4EB2-9991-D4127B79B99A}" type="presOf" srcId="{42D71409-67F9-455C-8C6D-716D284AAA6B}" destId="{56D73168-9009-4CC1-8FAF-7ED74DF59FDD}" srcOrd="0" destOrd="0" presId="urn:microsoft.com/office/officeart/2005/8/layout/chevron2"/>
    <dgm:cxn modelId="{9BEEA258-9E47-41CA-A9BB-A9C3784502DA}" type="presOf" srcId="{B9C32B05-62EA-407A-B21C-2310C7945705}" destId="{B28AF1AF-3FC8-43B4-9C93-A1EED3B53B0C}" srcOrd="0" destOrd="0" presId="urn:microsoft.com/office/officeart/2005/8/layout/chevron2"/>
    <dgm:cxn modelId="{1AB7E5A3-6B94-477E-AF1C-463F5A158092}" type="presOf" srcId="{8EA7219F-BDB2-48EB-9EEB-3133522D132E}" destId="{D1B6301C-8E0C-4537-82BF-9C555B0057E4}" srcOrd="0" destOrd="0" presId="urn:microsoft.com/office/officeart/2005/8/layout/chevron2"/>
    <dgm:cxn modelId="{00D623B8-F87E-42E3-A861-87D6C2B513E4}" srcId="{42D71409-67F9-455C-8C6D-716D284AAA6B}" destId="{8EA7219F-BDB2-48EB-9EEB-3133522D132E}" srcOrd="0" destOrd="0" parTransId="{3EE8403A-CB7C-4815-85BD-AEBCAEB71B37}" sibTransId="{C94B7947-85DC-4B21-BB99-DF8438356F98}"/>
    <dgm:cxn modelId="{2DBD26F0-8C62-45CA-A39C-DC5DD2617993}" srcId="{B9C32B05-62EA-407A-B21C-2310C7945705}" destId="{42D71409-67F9-455C-8C6D-716D284AAA6B}" srcOrd="0" destOrd="0" parTransId="{51680ED1-AF6E-4B28-AE94-92B0EFB0DF7D}" sibTransId="{478B7D3C-9FB4-4BC6-90AC-49960560DECD}"/>
    <dgm:cxn modelId="{A44E58CD-D5B2-4106-9B72-26BD1AF87808}" type="presParOf" srcId="{B28AF1AF-3FC8-43B4-9C93-A1EED3B53B0C}" destId="{FC7D1A9C-A24D-46FC-8AC8-3ED1D14CDF3B}" srcOrd="0" destOrd="0" presId="urn:microsoft.com/office/officeart/2005/8/layout/chevron2"/>
    <dgm:cxn modelId="{90AEC138-7A10-4E0F-8234-3638B84AD2B1}" type="presParOf" srcId="{FC7D1A9C-A24D-46FC-8AC8-3ED1D14CDF3B}" destId="{56D73168-9009-4CC1-8FAF-7ED74DF59FDD}" srcOrd="0" destOrd="0" presId="urn:microsoft.com/office/officeart/2005/8/layout/chevron2"/>
    <dgm:cxn modelId="{0D476E6D-90AD-498D-9CFC-E324B1A609E4}" type="presParOf" srcId="{FC7D1A9C-A24D-46FC-8AC8-3ED1D14CDF3B}" destId="{D1B6301C-8E0C-4537-82BF-9C555B0057E4}" srcOrd="1" destOrd="0" presId="urn:microsoft.com/office/officeart/2005/8/layout/chevron2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main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9C32B05-62EA-407A-B21C-2310C7945705}" type="doc">
      <dgm:prSet loTypeId="urn:microsoft.com/office/officeart/2005/8/layout/chevron2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51680ED1-AF6E-4B28-AE94-92B0EFB0DF7D}" type="parTrans" cxnId="{2DBD26F0-8C62-45CA-A39C-DC5DD2617993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2D71409-67F9-455C-8C6D-716D284AAA6B}">
      <dgm:prSet phldrT="[Text]" custT="1"/>
      <dgm:spPr/>
      <dgm:t>
        <a:bodyPr/>
        <a:lstStyle/>
        <a:p>
          <a:r>
            <a:rPr lang="en-US" sz="1400" dirty="0">
              <a:latin typeface="Times New Roman" panose="02020603050405020304" pitchFamily="18" charset="0"/>
              <a:ea typeface="字魂36号-正文宋楷" panose="02000000000000000000" pitchFamily="2" charset="-122"/>
              <a:cs typeface="Times New Roman" panose="02020603050405020304" pitchFamily="18" charset="0"/>
              <a:sym typeface="字魂36号-正文宋楷" panose="02000000000000000000" pitchFamily="2" charset="-122"/>
            </a:rPr>
            <a:t>C1</a:t>
          </a:r>
        </a:p>
      </dgm:t>
    </dgm:pt>
    <dgm:pt modelId="{3EE8403A-CB7C-4815-85BD-AEBCAEB71B37}" type="parTrans" cxnId="{00D623B8-F87E-42E3-A861-87D6C2B513E4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EA7219F-BDB2-48EB-9EEB-3133522D132E}">
      <dgm:prSet phldrT="[Text]" custT="1"/>
      <dgm:spPr/>
      <dgm:t>
        <a:bodyPr/>
        <a:lstStyle/>
        <a:p>
          <a:r>
            <a:rPr lang="es-MX" sz="1800" b="0" i="0" dirty="0">
              <a:effectLst/>
              <a:latin typeface="TimesNewRomanPSMT"/>
            </a:rPr>
            <a:t>En las pruebas in vitro, se determinó que los tratamientos T4 (</a:t>
          </a:r>
          <a:r>
            <a:rPr lang="es-MX" sz="1800" b="0" i="0" dirty="0" err="1">
              <a:effectLst/>
              <a:latin typeface="TimesNewRomanPSMT"/>
            </a:rPr>
            <a:t>Vacun</a:t>
          </a:r>
          <a:r>
            <a:rPr lang="es-MX" sz="1800" b="0" i="0" dirty="0">
              <a:effectLst/>
              <a:latin typeface="TimesNewRomanPSMT"/>
            </a:rPr>
            <a:t> </a:t>
          </a:r>
          <a:r>
            <a:rPr lang="es-MX" sz="1800" b="0" i="0" dirty="0" err="1">
              <a:effectLst/>
              <a:latin typeface="TimesNewRomanPSMT"/>
            </a:rPr>
            <a:t>Qpro</a:t>
          </a:r>
          <a:r>
            <a:rPr lang="es-MX" sz="1800" b="0" i="0" dirty="0">
              <a:effectLst/>
              <a:latin typeface="TimesNewRomanPSMT"/>
            </a:rPr>
            <a:t>), T2 (Barrera) y T3 (</a:t>
          </a:r>
          <a:r>
            <a:rPr lang="es-MX" sz="1800" b="0" i="0" dirty="0" err="1">
              <a:effectLst/>
              <a:latin typeface="TimesNewRomanPSMT"/>
            </a:rPr>
            <a:t>Timorex</a:t>
          </a:r>
          <a:r>
            <a:rPr lang="es-MX" sz="1800" b="0" i="0" dirty="0">
              <a:effectLst/>
              <a:latin typeface="TimesNewRomanPSMT"/>
            </a:rPr>
            <a:t> Gold), fueron eficaces en el control de </a:t>
          </a:r>
          <a:r>
            <a:rPr lang="es-MX" sz="1800" b="0" i="1" dirty="0" err="1">
              <a:effectLst/>
              <a:latin typeface="TimesNewRomanPS-ItalicMT"/>
            </a:rPr>
            <a:t>Lasiodiplodia</a:t>
          </a:r>
          <a:r>
            <a:rPr lang="es-MX" sz="1800" b="0" i="1" dirty="0">
              <a:effectLst/>
              <a:latin typeface="TimesNewRomanPS-ItalicMT"/>
            </a:rPr>
            <a:t> </a:t>
          </a:r>
          <a:r>
            <a:rPr lang="es-MX" sz="1800" b="0" i="1" dirty="0" err="1">
              <a:effectLst/>
              <a:latin typeface="TimesNewRomanPS-ItalicMT"/>
            </a:rPr>
            <a:t>theobromae</a:t>
          </a:r>
          <a:r>
            <a:rPr lang="es-MX" sz="1800" b="0" i="0" dirty="0">
              <a:effectLst/>
              <a:latin typeface="TimesNewRomanPSMT"/>
            </a:rPr>
            <a:t>, con 100% de inhibición del crecimiento micelial del patógeno</a:t>
          </a:r>
          <a:r>
            <a:rPr lang="es-MX" sz="1800" dirty="0"/>
            <a:t> </a:t>
          </a:r>
          <a:endParaRPr lang="en-US" sz="1800" dirty="0">
            <a:latin typeface="Times New Roman" panose="02020603050405020304" pitchFamily="18" charset="0"/>
            <a:ea typeface="字魂36号-正文宋楷" panose="02000000000000000000" pitchFamily="2" charset="-122"/>
            <a:cs typeface="Times New Roman" panose="02020603050405020304" pitchFamily="18" charset="0"/>
            <a:sym typeface="字魂36号-正文宋楷" panose="02000000000000000000" pitchFamily="2" charset="-122"/>
          </a:endParaRPr>
        </a:p>
      </dgm:t>
    </dgm:pt>
    <dgm:pt modelId="{C94B7947-85DC-4B21-BB99-DF8438356F98}" type="sibTrans" cxnId="{00D623B8-F87E-42E3-A861-87D6C2B513E4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78B7D3C-9FB4-4BC6-90AC-49960560DECD}" type="sibTrans" cxnId="{2DBD26F0-8C62-45CA-A39C-DC5DD2617993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28AF1AF-3FC8-43B4-9C93-A1EED3B53B0C}" type="pres">
      <dgm:prSet presAssocID="{B9C32B05-62EA-407A-B21C-2310C7945705}" presName="linearFlow" presStyleCnt="0">
        <dgm:presLayoutVars>
          <dgm:dir/>
          <dgm:animLvl val="lvl"/>
          <dgm:resizeHandles val="exact"/>
        </dgm:presLayoutVars>
      </dgm:prSet>
      <dgm:spPr/>
    </dgm:pt>
    <dgm:pt modelId="{FC7D1A9C-A24D-46FC-8AC8-3ED1D14CDF3B}" type="pres">
      <dgm:prSet presAssocID="{42D71409-67F9-455C-8C6D-716D284AAA6B}" presName="composite" presStyleCnt="0"/>
      <dgm:spPr/>
    </dgm:pt>
    <dgm:pt modelId="{56D73168-9009-4CC1-8FAF-7ED74DF59FDD}" type="pres">
      <dgm:prSet presAssocID="{42D71409-67F9-455C-8C6D-716D284AAA6B}" presName="parentText" presStyleLbl="alignNode1" presStyleIdx="0" presStyleCnt="1">
        <dgm:presLayoutVars>
          <dgm:chMax val="1"/>
          <dgm:bulletEnabled val="1"/>
        </dgm:presLayoutVars>
      </dgm:prSet>
      <dgm:spPr/>
    </dgm:pt>
    <dgm:pt modelId="{D1B6301C-8E0C-4537-82BF-9C555B0057E4}" type="pres">
      <dgm:prSet presAssocID="{42D71409-67F9-455C-8C6D-716D284AAA6B}" presName="descendantText" presStyleLbl="alignAcc1" presStyleIdx="0" presStyleCnt="1" custScaleX="96267" custLinFactNeighborX="-1576" custLinFactNeighborY="0">
        <dgm:presLayoutVars>
          <dgm:bulletEnabled val="1"/>
        </dgm:presLayoutVars>
      </dgm:prSet>
      <dgm:spPr/>
    </dgm:pt>
  </dgm:ptLst>
  <dgm:cxnLst>
    <dgm:cxn modelId="{8EE9B01F-6B21-4EB2-9991-D4127B79B99A}" type="presOf" srcId="{42D71409-67F9-455C-8C6D-716D284AAA6B}" destId="{56D73168-9009-4CC1-8FAF-7ED74DF59FDD}" srcOrd="0" destOrd="0" presId="urn:microsoft.com/office/officeart/2005/8/layout/chevron2"/>
    <dgm:cxn modelId="{9BEEA258-9E47-41CA-A9BB-A9C3784502DA}" type="presOf" srcId="{B9C32B05-62EA-407A-B21C-2310C7945705}" destId="{B28AF1AF-3FC8-43B4-9C93-A1EED3B53B0C}" srcOrd="0" destOrd="0" presId="urn:microsoft.com/office/officeart/2005/8/layout/chevron2"/>
    <dgm:cxn modelId="{1AB7E5A3-6B94-477E-AF1C-463F5A158092}" type="presOf" srcId="{8EA7219F-BDB2-48EB-9EEB-3133522D132E}" destId="{D1B6301C-8E0C-4537-82BF-9C555B0057E4}" srcOrd="0" destOrd="0" presId="urn:microsoft.com/office/officeart/2005/8/layout/chevron2"/>
    <dgm:cxn modelId="{00D623B8-F87E-42E3-A861-87D6C2B513E4}" srcId="{42D71409-67F9-455C-8C6D-716D284AAA6B}" destId="{8EA7219F-BDB2-48EB-9EEB-3133522D132E}" srcOrd="0" destOrd="0" parTransId="{3EE8403A-CB7C-4815-85BD-AEBCAEB71B37}" sibTransId="{C94B7947-85DC-4B21-BB99-DF8438356F98}"/>
    <dgm:cxn modelId="{2DBD26F0-8C62-45CA-A39C-DC5DD2617993}" srcId="{B9C32B05-62EA-407A-B21C-2310C7945705}" destId="{42D71409-67F9-455C-8C6D-716D284AAA6B}" srcOrd="0" destOrd="0" parTransId="{51680ED1-AF6E-4B28-AE94-92B0EFB0DF7D}" sibTransId="{478B7D3C-9FB4-4BC6-90AC-49960560DECD}"/>
    <dgm:cxn modelId="{A44E58CD-D5B2-4106-9B72-26BD1AF87808}" type="presParOf" srcId="{B28AF1AF-3FC8-43B4-9C93-A1EED3B53B0C}" destId="{FC7D1A9C-A24D-46FC-8AC8-3ED1D14CDF3B}" srcOrd="0" destOrd="0" presId="urn:microsoft.com/office/officeart/2005/8/layout/chevron2"/>
    <dgm:cxn modelId="{90AEC138-7A10-4E0F-8234-3638B84AD2B1}" type="presParOf" srcId="{FC7D1A9C-A24D-46FC-8AC8-3ED1D14CDF3B}" destId="{56D73168-9009-4CC1-8FAF-7ED74DF59FDD}" srcOrd="0" destOrd="0" presId="urn:microsoft.com/office/officeart/2005/8/layout/chevron2"/>
    <dgm:cxn modelId="{0D476E6D-90AD-498D-9CFC-E324B1A609E4}" type="presParOf" srcId="{FC7D1A9C-A24D-46FC-8AC8-3ED1D14CDF3B}" destId="{D1B6301C-8E0C-4537-82BF-9C555B0057E4}" srcOrd="1" destOrd="0" presId="urn:microsoft.com/office/officeart/2005/8/layout/chevron2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main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D73168-9009-4CC1-8FAF-7ED74DF59FDD}">
      <dsp:nvSpPr>
        <dsp:cNvPr id="0" name=""/>
        <dsp:cNvSpPr/>
      </dsp:nvSpPr>
      <dsp:spPr>
        <a:xfrm rot="5400000">
          <a:off x="-172204" y="208079"/>
          <a:ext cx="1387200" cy="971040"/>
        </a:xfrm>
        <a:prstGeom prst="chevr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ea typeface="字魂36号-正文宋楷" panose="02000000000000000000" pitchFamily="2" charset="-122"/>
              <a:cs typeface="Times New Roman" panose="02020603050405020304" pitchFamily="18" charset="0"/>
              <a:sym typeface="字魂36号-正文宋楷" panose="02000000000000000000" pitchFamily="2" charset="-122"/>
            </a:rPr>
            <a:t>OB1</a:t>
          </a:r>
        </a:p>
      </dsp:txBody>
      <dsp:txXfrm rot="-5400000">
        <a:off x="35876" y="485519"/>
        <a:ext cx="971040" cy="416160"/>
      </dsp:txXfrm>
    </dsp:sp>
    <dsp:sp modelId="{D1B6301C-8E0C-4537-82BF-9C555B0057E4}">
      <dsp:nvSpPr>
        <dsp:cNvPr id="0" name=""/>
        <dsp:cNvSpPr/>
      </dsp:nvSpPr>
      <dsp:spPr>
        <a:xfrm rot="5400000">
          <a:off x="2417580" y="-1399496"/>
          <a:ext cx="901679" cy="370067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Determinar la eficacia in vitro de cinco productos posibles inductores de resistencia</a:t>
          </a:r>
          <a:endParaRPr lang="en-US" sz="1600" kern="1200" dirty="0">
            <a:latin typeface="Times New Roman" panose="02020603050405020304" pitchFamily="18" charset="0"/>
            <a:ea typeface="字魂36号-正文宋楷" panose="02000000000000000000" pitchFamily="2" charset="-122"/>
            <a:cs typeface="Times New Roman" panose="02020603050405020304" pitchFamily="18" charset="0"/>
            <a:sym typeface="字魂36号-正文宋楷" panose="02000000000000000000" pitchFamily="2" charset="-122"/>
          </a:endParaRPr>
        </a:p>
      </dsp:txBody>
      <dsp:txXfrm rot="-5400000">
        <a:off x="1018083" y="44017"/>
        <a:ext cx="3656657" cy="81364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D73168-9009-4CC1-8FAF-7ED74DF59FDD}">
      <dsp:nvSpPr>
        <dsp:cNvPr id="0" name=""/>
        <dsp:cNvSpPr/>
      </dsp:nvSpPr>
      <dsp:spPr>
        <a:xfrm rot="5400000">
          <a:off x="-264836" y="331469"/>
          <a:ext cx="2209799" cy="1546859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ea typeface="字魂36号-正文宋楷" panose="02000000000000000000" pitchFamily="2" charset="-122"/>
              <a:cs typeface="Times New Roman" panose="02020603050405020304" pitchFamily="18" charset="0"/>
              <a:sym typeface="字魂36号-正文宋楷" panose="02000000000000000000" pitchFamily="2" charset="-122"/>
            </a:rPr>
            <a:t>C1</a:t>
          </a:r>
        </a:p>
      </dsp:txBody>
      <dsp:txXfrm rot="-5400000">
        <a:off x="66635" y="773429"/>
        <a:ext cx="1546859" cy="662940"/>
      </dsp:txXfrm>
    </dsp:sp>
    <dsp:sp modelId="{D1B6301C-8E0C-4537-82BF-9C555B0057E4}">
      <dsp:nvSpPr>
        <dsp:cNvPr id="0" name=""/>
        <dsp:cNvSpPr/>
      </dsp:nvSpPr>
      <dsp:spPr>
        <a:xfrm rot="5400000">
          <a:off x="4352753" y="-2718518"/>
          <a:ext cx="1436369" cy="687340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800" b="0" i="0" kern="1200" dirty="0">
              <a:effectLst/>
              <a:latin typeface="TimesNewRomanPSMT"/>
            </a:rPr>
            <a:t>En las pruebas in vitro, se determinó que los tratamientos T4 (</a:t>
          </a:r>
          <a:r>
            <a:rPr lang="es-MX" sz="1800" b="0" i="0" kern="1200" dirty="0" err="1">
              <a:effectLst/>
              <a:latin typeface="TimesNewRomanPSMT"/>
            </a:rPr>
            <a:t>Vacun</a:t>
          </a:r>
          <a:r>
            <a:rPr lang="es-MX" sz="1800" b="0" i="0" kern="1200" dirty="0">
              <a:effectLst/>
              <a:latin typeface="TimesNewRomanPSMT"/>
            </a:rPr>
            <a:t> </a:t>
          </a:r>
          <a:r>
            <a:rPr lang="es-MX" sz="1800" b="0" i="0" kern="1200" dirty="0" err="1">
              <a:effectLst/>
              <a:latin typeface="TimesNewRomanPSMT"/>
            </a:rPr>
            <a:t>Qpro</a:t>
          </a:r>
          <a:r>
            <a:rPr lang="es-MX" sz="1800" b="0" i="0" kern="1200" dirty="0">
              <a:effectLst/>
              <a:latin typeface="TimesNewRomanPSMT"/>
            </a:rPr>
            <a:t>), T2 (Barrera) y T3 (</a:t>
          </a:r>
          <a:r>
            <a:rPr lang="es-MX" sz="1800" b="0" i="0" kern="1200" dirty="0" err="1">
              <a:effectLst/>
              <a:latin typeface="TimesNewRomanPSMT"/>
            </a:rPr>
            <a:t>Timorex</a:t>
          </a:r>
          <a:r>
            <a:rPr lang="es-MX" sz="1800" b="0" i="0" kern="1200" dirty="0">
              <a:effectLst/>
              <a:latin typeface="TimesNewRomanPSMT"/>
            </a:rPr>
            <a:t> Gold), fueron eficaces en el control de </a:t>
          </a:r>
          <a:r>
            <a:rPr lang="es-MX" sz="1800" b="0" i="1" kern="1200" dirty="0" err="1">
              <a:effectLst/>
              <a:latin typeface="TimesNewRomanPS-ItalicMT"/>
            </a:rPr>
            <a:t>Lasiodiplodia</a:t>
          </a:r>
          <a:r>
            <a:rPr lang="es-MX" sz="1800" b="0" i="1" kern="1200" dirty="0">
              <a:effectLst/>
              <a:latin typeface="TimesNewRomanPS-ItalicMT"/>
            </a:rPr>
            <a:t> </a:t>
          </a:r>
          <a:r>
            <a:rPr lang="es-MX" sz="1800" b="0" i="1" kern="1200" dirty="0" err="1">
              <a:effectLst/>
              <a:latin typeface="TimesNewRomanPS-ItalicMT"/>
            </a:rPr>
            <a:t>theobromae</a:t>
          </a:r>
          <a:r>
            <a:rPr lang="es-MX" sz="1800" b="0" i="0" kern="1200" dirty="0">
              <a:effectLst/>
              <a:latin typeface="TimesNewRomanPSMT"/>
            </a:rPr>
            <a:t>, con 100% de inhibición del crecimiento micelial del patógeno</a:t>
          </a:r>
          <a:r>
            <a:rPr lang="es-MX" sz="1800" kern="1200" dirty="0"/>
            <a:t> </a:t>
          </a:r>
          <a:endParaRPr lang="en-US" sz="1800" kern="1200" dirty="0">
            <a:latin typeface="Times New Roman" panose="02020603050405020304" pitchFamily="18" charset="0"/>
            <a:ea typeface="字魂36号-正文宋楷" panose="02000000000000000000" pitchFamily="2" charset="-122"/>
            <a:cs typeface="Times New Roman" panose="02020603050405020304" pitchFamily="18" charset="0"/>
            <a:sym typeface="字魂36号-正文宋楷" panose="02000000000000000000" pitchFamily="2" charset="-122"/>
          </a:endParaRPr>
        </a:p>
      </dsp:txBody>
      <dsp:txXfrm rot="-5400000">
        <a:off x="1634235" y="70118"/>
        <a:ext cx="6803288" cy="12961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68DD62-5E86-4BD4-9422-A5E5F9B2F1A8}" type="datetimeFigureOut">
              <a:rPr lang="es-PE" smtClean="0"/>
              <a:t>23/05/2026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1591CB-A300-4436-99CC-ED58F98F937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52464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1591CB-A300-4436-99CC-ED58F98F9376}" type="slidenum">
              <a:rPr lang="es-PE" smtClean="0"/>
              <a:t>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495271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1591CB-A300-4436-99CC-ED58F98F9376}" type="slidenum">
              <a:rPr lang="es-PE" smtClean="0"/>
              <a:t>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547520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1591CB-A300-4436-99CC-ED58F98F9376}" type="slidenum">
              <a:rPr lang="es-PE" smtClean="0"/>
              <a:t>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107072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1591CB-A300-4436-99CC-ED58F98F9376}" type="slidenum">
              <a:rPr lang="es-PE" smtClean="0"/>
              <a:t>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202783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1591CB-A300-4436-99CC-ED58F98F9376}" type="slidenum">
              <a:rPr lang="es-PE" smtClean="0"/>
              <a:t>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907034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1591CB-A300-4436-99CC-ED58F98F9376}" type="slidenum">
              <a:rPr lang="es-PE" smtClean="0"/>
              <a:t>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79636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285"/>
              </a:lnSpc>
            </a:pPr>
            <a:fld id="{81D60167-4931-47E6-BA6A-407CBD079E47}" type="slidenum">
              <a:rPr dirty="0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73762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285"/>
              </a:lnSpc>
            </a:pPr>
            <a:fld id="{81D60167-4931-47E6-BA6A-407CBD079E47}" type="slidenum">
              <a:rPr dirty="0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6426151"/>
            <a:ext cx="12191999" cy="43133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6487114"/>
            <a:ext cx="1054014" cy="30938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73762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602348" y="1185748"/>
            <a:ext cx="5213984" cy="36055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285"/>
              </a:lnSpc>
            </a:pPr>
            <a:fld id="{81D60167-4931-47E6-BA6A-407CBD079E47}" type="slidenum">
              <a:rPr dirty="0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87952" y="2787395"/>
            <a:ext cx="3860292" cy="170230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73762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285"/>
              </a:lnSpc>
            </a:pPr>
            <a:fld id="{81D60167-4931-47E6-BA6A-407CBD079E47}" type="slidenum">
              <a:rPr dirty="0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285"/>
              </a:lnSpc>
            </a:pPr>
            <a:fld id="{81D60167-4931-47E6-BA6A-407CBD079E47}" type="slidenum">
              <a:rPr dirty="0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1999" cy="685799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6426151"/>
            <a:ext cx="12191999" cy="43133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326129" y="270459"/>
            <a:ext cx="5539740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073762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0455" y="2565654"/>
            <a:ext cx="5644515" cy="3073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210934" y="6437453"/>
            <a:ext cx="203835" cy="3073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285"/>
              </a:lnSpc>
            </a:pPr>
            <a:fld id="{81D60167-4931-47E6-BA6A-407CBD079E47}" type="slidenum">
              <a:rPr dirty="0"/>
              <a:t>‹Nº›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erika.llaja.epg@untrm.edu.pe" TargetMode="External"/><Relationship Id="rId5" Type="http://schemas.openxmlformats.org/officeDocument/2006/relationships/image" Target="../media/image7.jpeg"/><Relationship Id="rId4" Type="http://schemas.openxmlformats.org/officeDocument/2006/relationships/image" Target="../media/image6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13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" y="1"/>
            <a:ext cx="12191999" cy="585838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" y="1960562"/>
            <a:ext cx="12191999" cy="2936875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6096000" y="6480606"/>
            <a:ext cx="206693" cy="2633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s-PE"/>
            </a:defPPr>
            <a:lvl1pPr marL="0" algn="l" defTabSz="914400" rtl="0" eaLnBrk="1" latinLnBrk="0" hangingPunct="1">
              <a:defRPr sz="2000" b="1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2285"/>
              </a:lnSpc>
            </a:pPr>
            <a:fld id="{81D60167-4931-47E6-BA6A-407CBD079E47}" type="slidenum">
              <a:rPr lang="es-PE" sz="1400" smtClean="0"/>
              <a:pPr marL="38100">
                <a:lnSpc>
                  <a:spcPts val="2285"/>
                </a:lnSpc>
              </a:pPr>
              <a:t>1</a:t>
            </a:fld>
            <a:endParaRPr sz="1400" dirty="0">
              <a:solidFill>
                <a:schemeClr val="tx1"/>
              </a:solidFill>
            </a:endParaRPr>
          </a:p>
        </p:txBody>
      </p:sp>
      <p:pic>
        <p:nvPicPr>
          <p:cNvPr id="11" name="Picture 2" descr="Resultado de imagen para untrm logo">
            <a:extLst>
              <a:ext uri="{FF2B5EF4-FFF2-40B4-BE49-F238E27FC236}">
                <a16:creationId xmlns:a16="http://schemas.microsoft.com/office/drawing/2014/main" id="{E5C87A31-4F92-4B58-AC20-0A3F80490B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05" b="10140"/>
          <a:stretch/>
        </p:blipFill>
        <p:spPr bwMode="auto">
          <a:xfrm>
            <a:off x="61582" y="15664"/>
            <a:ext cx="3367418" cy="845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0301A356-ACD1-40BD-918B-967BD9478D00}"/>
              </a:ext>
            </a:extLst>
          </p:cNvPr>
          <p:cNvSpPr txBox="1"/>
          <p:nvPr/>
        </p:nvSpPr>
        <p:spPr>
          <a:xfrm>
            <a:off x="19050" y="4958116"/>
            <a:ext cx="942974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Programa De Posgrado Maestría En Sanidad Vegetal</a:t>
            </a:r>
          </a:p>
          <a:p>
            <a:r>
              <a:rPr lang="es-P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Autor: 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Erika Llaja Zuta</a:t>
            </a:r>
            <a:endParaRPr lang="es-PE" sz="1800" baseline="30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s-PE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Gmail: </a:t>
            </a:r>
            <a:r>
              <a:rPr lang="es-PE" dirty="0">
                <a:solidFill>
                  <a:srgbClr val="0462C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erika.llaja.epg@untrm.edu.pe</a:t>
            </a:r>
            <a:r>
              <a:rPr lang="es-PE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s-PE" sz="1800" baseline="30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s-ES" b="1" dirty="0">
                <a:latin typeface="Times New Roman"/>
                <a:cs typeface="Times New Roman"/>
              </a:rPr>
              <a:t>Docente</a:t>
            </a:r>
            <a:r>
              <a:rPr lang="es-ES" sz="1800" b="1" dirty="0">
                <a:latin typeface="Times New Roman"/>
                <a:cs typeface="Times New Roman"/>
              </a:rPr>
              <a:t>: </a:t>
            </a:r>
            <a:r>
              <a:rPr lang="es-PE" sz="1800" dirty="0" err="1">
                <a:solidFill>
                  <a:srgbClr val="000000"/>
                </a:solidFill>
                <a:effectLst/>
                <a:latin typeface="TimesNewRomanPS-BoldMT"/>
                <a:ea typeface="Calibri" panose="020F0502020204030204" pitchFamily="34" charset="0"/>
                <a:cs typeface="Times New Roman" panose="02020603050405020304" pitchFamily="18" charset="0"/>
              </a:rPr>
              <a:t>MSc</a:t>
            </a:r>
            <a:r>
              <a:rPr lang="es-PE" sz="1800" dirty="0">
                <a:solidFill>
                  <a:srgbClr val="000000"/>
                </a:solidFill>
                <a:effectLst/>
                <a:latin typeface="TimesNewRomanPS-BoldMT"/>
                <a:ea typeface="Calibri" panose="020F0502020204030204" pitchFamily="34" charset="0"/>
                <a:cs typeface="Times New Roman" panose="02020603050405020304" pitchFamily="18" charset="0"/>
              </a:rPr>
              <a:t>. Flavio Lozano Isla</a:t>
            </a:r>
            <a:endParaRPr lang="es-PE" sz="1800" baseline="30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C45809F-FE97-4221-B3D2-06CBD510F164}"/>
              </a:ext>
            </a:extLst>
          </p:cNvPr>
          <p:cNvSpPr txBox="1"/>
          <p:nvPr/>
        </p:nvSpPr>
        <p:spPr>
          <a:xfrm>
            <a:off x="1397482" y="987213"/>
            <a:ext cx="939703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PE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UNIVERSIDAD NACIONAL TORIBIO RODRÍGUEZ DE MENDOZA DE AMAZONAS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25141182-C86D-49CC-B924-8EEDCC1BF7D1}"/>
              </a:ext>
            </a:extLst>
          </p:cNvPr>
          <p:cNvSpPr txBox="1"/>
          <p:nvPr/>
        </p:nvSpPr>
        <p:spPr>
          <a:xfrm>
            <a:off x="3013471" y="2038648"/>
            <a:ext cx="61650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defTabSz="457200" eaLnBrk="0" fontAlgn="base" hangingPunct="0">
              <a:lnSpc>
                <a:spcPct val="100000"/>
              </a:lnSpc>
              <a:spcBef>
                <a:spcPts val="0"/>
              </a:spcBef>
              <a:tabLst>
                <a:tab pos="2070100" algn="l"/>
              </a:tabLst>
            </a:pPr>
            <a:endParaRPr lang="es-PE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20FAD459-4D10-4792-9259-C8DC6D1503B0}"/>
              </a:ext>
            </a:extLst>
          </p:cNvPr>
          <p:cNvSpPr txBox="1"/>
          <p:nvPr/>
        </p:nvSpPr>
        <p:spPr>
          <a:xfrm>
            <a:off x="1" y="2995370"/>
            <a:ext cx="12191998" cy="344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algn="ctr">
              <a:lnSpc>
                <a:spcPct val="107000"/>
              </a:lnSpc>
              <a:spcAft>
                <a:spcPts val="800"/>
              </a:spcAft>
            </a:pPr>
            <a:endParaRPr lang="es-PE" sz="1600" b="1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500D229-4FC7-4ED1-A1FE-E106D4520018}"/>
              </a:ext>
            </a:extLst>
          </p:cNvPr>
          <p:cNvSpPr txBox="1"/>
          <p:nvPr/>
        </p:nvSpPr>
        <p:spPr>
          <a:xfrm>
            <a:off x="61582" y="6524226"/>
            <a:ext cx="5236560" cy="240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ts val="1070"/>
              </a:lnSpc>
            </a:pPr>
            <a:r>
              <a:rPr lang="es-MX" sz="1400"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Maestría </a:t>
            </a:r>
            <a:r>
              <a:rPr lang="es-MX" sz="1400" spc="-4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 Sanidad Vegetal | Diseños Experimentales y Programación </a:t>
            </a:r>
            <a:endParaRPr lang="es-MX" sz="1400" spc="-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Página Principal | Escuela de Posgrado UNTRM">
            <a:extLst>
              <a:ext uri="{FF2B5EF4-FFF2-40B4-BE49-F238E27FC236}">
                <a16:creationId xmlns:a16="http://schemas.microsoft.com/office/drawing/2014/main" id="{4835F805-55EE-491E-9033-7BD62EA7C8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2" y="74533"/>
            <a:ext cx="2593711" cy="880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91A84385-9CE5-4B44-B878-080D86164C6C}"/>
              </a:ext>
            </a:extLst>
          </p:cNvPr>
          <p:cNvSpPr txBox="1"/>
          <p:nvPr/>
        </p:nvSpPr>
        <p:spPr>
          <a:xfrm>
            <a:off x="1524000" y="2646086"/>
            <a:ext cx="101346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INDUCCIÓN DE RESISTENCIA A </a:t>
            </a:r>
            <a:r>
              <a:rPr lang="es-MX" sz="2800" b="1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Lasiodiplodia</a:t>
            </a:r>
            <a:r>
              <a:rPr lang="es-MX" sz="2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2800" b="1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theobromae</a:t>
            </a:r>
            <a:r>
              <a:rPr lang="es-MX" sz="2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 PALTO (</a:t>
            </a:r>
            <a:r>
              <a:rPr lang="es-MX" sz="2800" b="1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Persea</a:t>
            </a:r>
            <a:r>
              <a:rPr lang="es-MX" sz="2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americana </a:t>
            </a:r>
            <a:r>
              <a:rPr lang="es-MX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Mill.)</a:t>
            </a:r>
            <a:endParaRPr lang="es-PE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xfrm>
            <a:off x="6100762" y="6492862"/>
            <a:ext cx="203835" cy="2633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285"/>
              </a:lnSpc>
            </a:pPr>
            <a:fld id="{81D60167-4931-47E6-BA6A-407CBD079E47}" type="slidenum">
              <a:rPr sz="1400" dirty="0"/>
              <a:t>2</a:t>
            </a:fld>
            <a:endParaRPr sz="140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AAA24D2-4B88-4941-B170-89FD24760666}"/>
              </a:ext>
            </a:extLst>
          </p:cNvPr>
          <p:cNvSpPr txBox="1"/>
          <p:nvPr/>
        </p:nvSpPr>
        <p:spPr>
          <a:xfrm>
            <a:off x="61582" y="6524226"/>
            <a:ext cx="5236560" cy="240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ts val="1070"/>
              </a:lnSpc>
            </a:pPr>
            <a:r>
              <a:rPr lang="es-MX" sz="1400"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Maestría </a:t>
            </a:r>
            <a:r>
              <a:rPr lang="es-MX" sz="1400" spc="-4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 Sanidad Vegetal | Diseños Experimentales y Programación </a:t>
            </a:r>
            <a:endParaRPr lang="es-MX" sz="1400" spc="-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D744BC1-5049-4E9E-9B21-9D56B751A44C}"/>
              </a:ext>
            </a:extLst>
          </p:cNvPr>
          <p:cNvSpPr txBox="1"/>
          <p:nvPr/>
        </p:nvSpPr>
        <p:spPr>
          <a:xfrm>
            <a:off x="1676400" y="444101"/>
            <a:ext cx="381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I. INTRODUCCIÓN</a:t>
            </a:r>
            <a:endParaRPr lang="es-PE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0585B3E-3B69-43A5-9A2F-67FC79BB6C6D}"/>
              </a:ext>
            </a:extLst>
          </p:cNvPr>
          <p:cNvSpPr txBox="1"/>
          <p:nvPr/>
        </p:nvSpPr>
        <p:spPr>
          <a:xfrm>
            <a:off x="914400" y="1122471"/>
            <a:ext cx="5562600" cy="461305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cultivo de palto Hass tiene gran importancia económica en el Perú; sin embargo, su producción puede verse afectada por enfermedades causadas por </a:t>
            </a:r>
            <a:r>
              <a:rPr lang="es-MX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Lasiodiplodia</a:t>
            </a:r>
            <a:r>
              <a:rPr lang="es-MX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theobromae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patógeno asociado a síntomas como muerte regresiva, cancros y pudriciones. Frente a las limitaciones del control químico, el uso de productos con posible efecto inductor o antagonista representa una alternativa para reducir el desarrollo del hongo en condiciones controladas. Por ello, la investigación evaluó la eficacia in vitro de diferentes productos sobre el crecimiento micelial de </a:t>
            </a:r>
            <a:r>
              <a:rPr lang="es-MX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L. </a:t>
            </a:r>
            <a:r>
              <a:rPr lang="es-MX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theobromae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s-P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6" name="Picture 4" descr="Lasiodiplodia theobromae 🥑 Es un hongo de madera que ataca a diversos  cultivos como el palto, arándano y vid. Este patógeno tiene la  característica de ser endofítico; es decir, pueden estar dentro… |">
            <a:extLst>
              <a:ext uri="{FF2B5EF4-FFF2-40B4-BE49-F238E27FC236}">
                <a16:creationId xmlns:a16="http://schemas.microsoft.com/office/drawing/2014/main" id="{1C32BEC8-583B-42B3-8A67-DBE3D97597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6000" y="2743200"/>
            <a:ext cx="4826000" cy="361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Una enfermedad que puede causar grandes pérdidas - Redagrícola">
            <a:extLst>
              <a:ext uri="{FF2B5EF4-FFF2-40B4-BE49-F238E27FC236}">
                <a16:creationId xmlns:a16="http://schemas.microsoft.com/office/drawing/2014/main" id="{32C033F4-6935-467D-B4ED-2A78C670C1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6001" y="0"/>
            <a:ext cx="48260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89E2162C-9BAF-4E30-9D02-35058B0C511F}"/>
              </a:ext>
            </a:extLst>
          </p:cNvPr>
          <p:cNvSpPr txBox="1"/>
          <p:nvPr/>
        </p:nvSpPr>
        <p:spPr>
          <a:xfrm>
            <a:off x="6060141" y="6054923"/>
            <a:ext cx="1447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(Jiménez, 2023)</a:t>
            </a:r>
          </a:p>
        </p:txBody>
      </p:sp>
    </p:spTree>
    <p:extLst>
      <p:ext uri="{BB962C8B-B14F-4D97-AF65-F5344CB8AC3E}">
        <p14:creationId xmlns:p14="http://schemas.microsoft.com/office/powerpoint/2010/main" val="1896914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xfrm>
            <a:off x="6100762" y="6492862"/>
            <a:ext cx="203835" cy="2633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285"/>
              </a:lnSpc>
            </a:pPr>
            <a:fld id="{81D60167-4931-47E6-BA6A-407CBD079E47}" type="slidenum">
              <a:rPr sz="1400" dirty="0"/>
              <a:t>3</a:t>
            </a:fld>
            <a:endParaRPr sz="140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AAA24D2-4B88-4941-B170-89FD24760666}"/>
              </a:ext>
            </a:extLst>
          </p:cNvPr>
          <p:cNvSpPr txBox="1"/>
          <p:nvPr/>
        </p:nvSpPr>
        <p:spPr>
          <a:xfrm>
            <a:off x="61582" y="6524226"/>
            <a:ext cx="5236560" cy="240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ts val="1070"/>
              </a:lnSpc>
            </a:pPr>
            <a:r>
              <a:rPr lang="es-MX" sz="1400"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Maestría </a:t>
            </a:r>
            <a:r>
              <a:rPr lang="es-MX" sz="1400" spc="-4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 Sanidad Vegetal | Diseños Experimentales y Programación </a:t>
            </a:r>
            <a:endParaRPr lang="es-MX" sz="1400" spc="-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D744BC1-5049-4E9E-9B21-9D56B751A44C}"/>
              </a:ext>
            </a:extLst>
          </p:cNvPr>
          <p:cNvSpPr txBox="1"/>
          <p:nvPr/>
        </p:nvSpPr>
        <p:spPr>
          <a:xfrm>
            <a:off x="1079662" y="152400"/>
            <a:ext cx="320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II. OBJETIVO</a:t>
            </a:r>
          </a:p>
        </p:txBody>
      </p:sp>
      <p:graphicFrame>
        <p:nvGraphicFramePr>
          <p:cNvPr id="15" name="Diagram 5">
            <a:extLst>
              <a:ext uri="{FF2B5EF4-FFF2-40B4-BE49-F238E27FC236}">
                <a16:creationId xmlns:a16="http://schemas.microsoft.com/office/drawing/2014/main" id="{C815E011-A231-4A01-BF98-F97312FC01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6636181"/>
              </p:ext>
            </p:extLst>
          </p:nvPr>
        </p:nvGraphicFramePr>
        <p:xfrm>
          <a:off x="61582" y="704804"/>
          <a:ext cx="4815217" cy="138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8" name="CuadroTexto 17">
            <a:extLst>
              <a:ext uri="{FF2B5EF4-FFF2-40B4-BE49-F238E27FC236}">
                <a16:creationId xmlns:a16="http://schemas.microsoft.com/office/drawing/2014/main" id="{3B52C008-4270-4186-BCF9-FD376A2FCEB8}"/>
              </a:ext>
            </a:extLst>
          </p:cNvPr>
          <p:cNvSpPr txBox="1"/>
          <p:nvPr/>
        </p:nvSpPr>
        <p:spPr>
          <a:xfrm>
            <a:off x="1043803" y="1620567"/>
            <a:ext cx="36447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III. METODOLOGÍA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BBC0D3E-C9BE-4F1F-A7A2-BCFD40F492C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582" y="2140096"/>
            <a:ext cx="5582395" cy="3879704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4C5FB6D7-8DB6-444C-960D-6D4F58858F77}"/>
              </a:ext>
            </a:extLst>
          </p:cNvPr>
          <p:cNvSpPr txBox="1"/>
          <p:nvPr/>
        </p:nvSpPr>
        <p:spPr>
          <a:xfrm>
            <a:off x="-61234" y="6094786"/>
            <a:ext cx="58548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Figura 1. </a:t>
            </a:r>
            <a:r>
              <a:rPr lang="es-MX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Ciclo de enfermedad de </a:t>
            </a:r>
            <a:r>
              <a:rPr lang="es-MX" sz="1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L. </a:t>
            </a:r>
            <a:r>
              <a:rPr lang="es-MX" sz="1200" b="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theobromae</a:t>
            </a:r>
            <a:r>
              <a:rPr lang="es-MX" sz="1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 el cultivo del palto. </a:t>
            </a:r>
            <a:endParaRPr lang="es-PE" sz="12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1F5F19D-201C-49C1-B5EF-C8CC79F8304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89096" y="152400"/>
            <a:ext cx="5782482" cy="2200582"/>
          </a:xfrm>
          <a:prstGeom prst="rect">
            <a:avLst/>
          </a:prstGeom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C746FC55-49C6-4BD5-8E9C-823F765717A8}"/>
              </a:ext>
            </a:extLst>
          </p:cNvPr>
          <p:cNvSpPr txBox="1"/>
          <p:nvPr/>
        </p:nvSpPr>
        <p:spPr>
          <a:xfrm>
            <a:off x="5611046" y="2339328"/>
            <a:ext cx="63523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200" b="1" i="0" dirty="0">
                <a:solidFill>
                  <a:srgbClr val="000000"/>
                </a:solidFill>
                <a:effectLst/>
                <a:latin typeface="TimesNewRomanPS-BoldMT"/>
              </a:rPr>
              <a:t>Figura 2</a:t>
            </a:r>
            <a:r>
              <a:rPr lang="es-MX" sz="1200" b="0" i="0" dirty="0">
                <a:solidFill>
                  <a:srgbClr val="000000"/>
                </a:solidFill>
                <a:effectLst/>
                <a:latin typeface="TimesNewRomanPSMT"/>
              </a:rPr>
              <a:t>. Preparación de suspensión de </a:t>
            </a:r>
            <a:r>
              <a:rPr lang="es-MX" sz="1200" b="0" i="0" dirty="0" err="1">
                <a:solidFill>
                  <a:srgbClr val="000000"/>
                </a:solidFill>
                <a:effectLst/>
                <a:latin typeface="TimesNewRomanPSMT"/>
              </a:rPr>
              <a:t>conidias</a:t>
            </a:r>
            <a:r>
              <a:rPr lang="es-MX" sz="1200" b="0" i="0" dirty="0">
                <a:solidFill>
                  <a:srgbClr val="000000"/>
                </a:solidFill>
                <a:effectLst/>
                <a:latin typeface="TimesNewRomanPSMT"/>
              </a:rPr>
              <a:t> de </a:t>
            </a:r>
            <a:r>
              <a:rPr lang="es-MX" sz="1200" b="0" i="1" dirty="0">
                <a:solidFill>
                  <a:srgbClr val="000000"/>
                </a:solidFill>
                <a:effectLst/>
                <a:latin typeface="TimesNewRomanPS-ItalicMT"/>
              </a:rPr>
              <a:t>L. </a:t>
            </a:r>
            <a:r>
              <a:rPr lang="es-MX" sz="1200" b="0" i="1" dirty="0" err="1">
                <a:solidFill>
                  <a:srgbClr val="000000"/>
                </a:solidFill>
                <a:effectLst/>
                <a:latin typeface="TimesNewRomanPS-ItalicMT"/>
              </a:rPr>
              <a:t>theobromae</a:t>
            </a:r>
            <a:r>
              <a:rPr lang="es-MX" sz="1200" b="0" i="1" dirty="0">
                <a:solidFill>
                  <a:srgbClr val="000000"/>
                </a:solidFill>
                <a:effectLst/>
                <a:latin typeface="TimesNewRomanPS-ItalicMT"/>
              </a:rPr>
              <a:t> </a:t>
            </a:r>
            <a:r>
              <a:rPr lang="es-MX" sz="1200" b="0" i="0" dirty="0">
                <a:solidFill>
                  <a:srgbClr val="000000"/>
                </a:solidFill>
                <a:effectLst/>
                <a:latin typeface="TimesNewRomanPSMT"/>
              </a:rPr>
              <a:t>en el laboratorio de cultivos del departamento de Fitopatología, Facultad de Agronomía, Universidad Nacional Agraria la Molina.</a:t>
            </a:r>
            <a:r>
              <a:rPr lang="es-MX" sz="1200" dirty="0"/>
              <a:t> </a:t>
            </a:r>
            <a:br>
              <a:rPr lang="es-MX" sz="1200" dirty="0"/>
            </a:br>
            <a:endParaRPr lang="es-PE" sz="1200" dirty="0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77B35AA9-3294-4273-AFD6-8FB42C1BBD04}"/>
              </a:ext>
            </a:extLst>
          </p:cNvPr>
          <p:cNvSpPr txBox="1"/>
          <p:nvPr/>
        </p:nvSpPr>
        <p:spPr>
          <a:xfrm>
            <a:off x="5902175" y="6131779"/>
            <a:ext cx="63523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200" b="1" i="0" dirty="0">
                <a:solidFill>
                  <a:srgbClr val="000000"/>
                </a:solidFill>
                <a:effectLst/>
                <a:latin typeface="TimesNewRomanPS-BoldMT"/>
              </a:rPr>
              <a:t>Tabla 1</a:t>
            </a:r>
            <a:r>
              <a:rPr lang="es-MX" sz="1200" b="0" i="0" dirty="0">
                <a:solidFill>
                  <a:srgbClr val="000000"/>
                </a:solidFill>
                <a:effectLst/>
                <a:latin typeface="TimesNewRomanPSMT"/>
              </a:rPr>
              <a:t>. Tratamientos con las dosis de aplicación empleadas en la prueba de envenenamiento</a:t>
            </a:r>
            <a:endParaRPr lang="es-MX" sz="1200" b="0" i="1" dirty="0">
              <a:solidFill>
                <a:srgbClr val="000000"/>
              </a:solidFill>
              <a:effectLst/>
              <a:latin typeface="TimesNewRomanPS-ItalicMT"/>
            </a:endParaRP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D89B8C20-556A-442E-8B3E-D7FB4ACC1F1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70727" y="2764043"/>
            <a:ext cx="4615252" cy="336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308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xfrm>
            <a:off x="6100762" y="6492862"/>
            <a:ext cx="203835" cy="2633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285"/>
              </a:lnSpc>
            </a:pPr>
            <a:fld id="{81D60167-4931-47E6-BA6A-407CBD079E47}" type="slidenum">
              <a:rPr sz="1400" dirty="0"/>
              <a:t>4</a:t>
            </a:fld>
            <a:endParaRPr sz="140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AAA24D2-4B88-4941-B170-89FD24760666}"/>
              </a:ext>
            </a:extLst>
          </p:cNvPr>
          <p:cNvSpPr txBox="1"/>
          <p:nvPr/>
        </p:nvSpPr>
        <p:spPr>
          <a:xfrm>
            <a:off x="61582" y="6524226"/>
            <a:ext cx="5236560" cy="240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ts val="1070"/>
              </a:lnSpc>
            </a:pPr>
            <a:r>
              <a:rPr lang="es-MX" sz="1400"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Maestría </a:t>
            </a:r>
            <a:r>
              <a:rPr lang="es-MX" sz="1400" spc="-4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 Sanidad Vegetal | Diseños Experimentales y Programación </a:t>
            </a:r>
            <a:endParaRPr lang="es-MX" sz="1400" spc="-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3B52C008-4270-4186-BCF9-FD376A2FCEB8}"/>
              </a:ext>
            </a:extLst>
          </p:cNvPr>
          <p:cNvSpPr txBox="1"/>
          <p:nvPr/>
        </p:nvSpPr>
        <p:spPr>
          <a:xfrm>
            <a:off x="1166388" y="0"/>
            <a:ext cx="36447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III. METODOLOGÍA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46F1708-70F1-4319-99A8-34C65CF3D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5271" y="75586"/>
            <a:ext cx="4610743" cy="3153215"/>
          </a:xfrm>
          <a:prstGeom prst="rect">
            <a:avLst/>
          </a:prstGeom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C58A04EB-358D-49E7-9CCA-F108200C5427}"/>
              </a:ext>
            </a:extLst>
          </p:cNvPr>
          <p:cNvSpPr txBox="1"/>
          <p:nvPr/>
        </p:nvSpPr>
        <p:spPr>
          <a:xfrm>
            <a:off x="6100762" y="3228801"/>
            <a:ext cx="60912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200" b="1" i="0" dirty="0">
                <a:solidFill>
                  <a:srgbClr val="000000"/>
                </a:solidFill>
                <a:effectLst/>
                <a:latin typeface="TimesNewRomanPSMT"/>
              </a:rPr>
              <a:t>Figura 4</a:t>
            </a:r>
            <a:r>
              <a:rPr lang="es-MX" sz="1200" b="0" i="0" dirty="0">
                <a:solidFill>
                  <a:srgbClr val="000000"/>
                </a:solidFill>
                <a:effectLst/>
                <a:latin typeface="TimesNewRomanPSMT"/>
              </a:rPr>
              <a:t>. Disposición de los tratamientos y sus repeticiones en la prueba de envenenamiento contra </a:t>
            </a:r>
            <a:r>
              <a:rPr lang="es-MX" sz="1200" b="0" i="1" dirty="0">
                <a:solidFill>
                  <a:srgbClr val="000000"/>
                </a:solidFill>
                <a:effectLst/>
                <a:latin typeface="TimesNewRomanPS-ItalicMT"/>
              </a:rPr>
              <a:t>L. </a:t>
            </a:r>
            <a:r>
              <a:rPr lang="es-MX" sz="1200" b="0" i="1" dirty="0" err="1">
                <a:solidFill>
                  <a:srgbClr val="000000"/>
                </a:solidFill>
                <a:effectLst/>
                <a:latin typeface="TimesNewRomanPS-ItalicMT"/>
              </a:rPr>
              <a:t>theobromae</a:t>
            </a:r>
            <a:r>
              <a:rPr lang="es-MX" sz="1200" b="0" i="1" dirty="0">
                <a:solidFill>
                  <a:srgbClr val="000000"/>
                </a:solidFill>
                <a:effectLst/>
                <a:latin typeface="TimesNewRomanPS-ItalicMT"/>
              </a:rPr>
              <a:t> </a:t>
            </a:r>
            <a:r>
              <a:rPr lang="es-MX" sz="1200" b="0" i="0" dirty="0">
                <a:solidFill>
                  <a:srgbClr val="000000"/>
                </a:solidFill>
                <a:effectLst/>
                <a:latin typeface="TimesNewRomanPSMT"/>
              </a:rPr>
              <a:t>en la prueba in vitro</a:t>
            </a:r>
            <a:r>
              <a:rPr lang="es-MX" sz="1200" dirty="0"/>
              <a:t> </a:t>
            </a:r>
            <a:endParaRPr lang="es-PE" sz="1200" dirty="0"/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8A76DD0A-0324-4FA8-A932-BE8D26C577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5445188"/>
              </p:ext>
            </p:extLst>
          </p:nvPr>
        </p:nvGraphicFramePr>
        <p:xfrm>
          <a:off x="99002" y="464439"/>
          <a:ext cx="6446795" cy="2486386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3348983">
                  <a:extLst>
                    <a:ext uri="{9D8B030D-6E8A-4147-A177-3AD203B41FA5}">
                      <a16:colId xmlns:a16="http://schemas.microsoft.com/office/drawing/2014/main" val="2436168553"/>
                    </a:ext>
                  </a:extLst>
                </a:gridCol>
                <a:gridCol w="3097812">
                  <a:extLst>
                    <a:ext uri="{9D8B030D-6E8A-4147-A177-3AD203B41FA5}">
                      <a16:colId xmlns:a16="http://schemas.microsoft.com/office/drawing/2014/main" val="1980309855"/>
                    </a:ext>
                  </a:extLst>
                </a:gridCol>
              </a:tblGrid>
              <a:tr h="323516">
                <a:tc>
                  <a:txBody>
                    <a:bodyPr/>
                    <a:lstStyle/>
                    <a:p>
                      <a:pPr algn="ctr"/>
                      <a:r>
                        <a:rPr lang="es-PE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Aspecto</a:t>
                      </a:r>
                    </a:p>
                  </a:txBody>
                  <a:tcPr marL="80879" marR="80879" marT="40439" marB="40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Descripción</a:t>
                      </a:r>
                    </a:p>
                  </a:txBody>
                  <a:tcPr marL="80879" marR="80879" marT="40439" marB="40439" anchor="ctr"/>
                </a:tc>
                <a:extLst>
                  <a:ext uri="{0D108BD9-81ED-4DB2-BD59-A6C34878D82A}">
                    <a16:rowId xmlns:a16="http://schemas.microsoft.com/office/drawing/2014/main" val="3631260233"/>
                  </a:ext>
                </a:extLst>
              </a:tr>
              <a:tr h="295676">
                <a:tc>
                  <a:txBody>
                    <a:bodyPr/>
                    <a:lstStyle/>
                    <a:p>
                      <a:pPr algn="just"/>
                      <a:r>
                        <a:rPr lang="es-PE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Diseño experimental</a:t>
                      </a:r>
                    </a:p>
                  </a:txBody>
                  <a:tcPr marL="80879" marR="80879" marT="40439" marB="40439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PE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Completamente al azar (DCA)</a:t>
                      </a:r>
                    </a:p>
                  </a:txBody>
                  <a:tcPr marL="80879" marR="80879" marT="40439" marB="40439" anchor="ctr"/>
                </a:tc>
                <a:extLst>
                  <a:ext uri="{0D108BD9-81ED-4DB2-BD59-A6C34878D82A}">
                    <a16:rowId xmlns:a16="http://schemas.microsoft.com/office/drawing/2014/main" val="1507564961"/>
                  </a:ext>
                </a:extLst>
              </a:tr>
              <a:tr h="323516">
                <a:tc>
                  <a:txBody>
                    <a:bodyPr/>
                    <a:lstStyle/>
                    <a:p>
                      <a:pPr algn="just"/>
                      <a:r>
                        <a:rPr lang="es-PE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Número de tratamientos</a:t>
                      </a:r>
                    </a:p>
                  </a:txBody>
                  <a:tcPr marL="80879" marR="80879" marT="40439" marB="40439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PE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(incluyendo testigo)</a:t>
                      </a:r>
                    </a:p>
                  </a:txBody>
                  <a:tcPr marL="80879" marR="80879" marT="40439" marB="40439" anchor="ctr"/>
                </a:tc>
                <a:extLst>
                  <a:ext uri="{0D108BD9-81ED-4DB2-BD59-A6C34878D82A}">
                    <a16:rowId xmlns:a16="http://schemas.microsoft.com/office/drawing/2014/main" val="2462721012"/>
                  </a:ext>
                </a:extLst>
              </a:tr>
              <a:tr h="323516">
                <a:tc>
                  <a:txBody>
                    <a:bodyPr/>
                    <a:lstStyle/>
                    <a:p>
                      <a:pPr algn="just"/>
                      <a:r>
                        <a:rPr lang="es-PE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Número de repeticiones</a:t>
                      </a:r>
                    </a:p>
                  </a:txBody>
                  <a:tcPr marL="80879" marR="80879" marT="40439" marB="40439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PE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por tratamiento</a:t>
                      </a:r>
                    </a:p>
                  </a:txBody>
                  <a:tcPr marL="80879" marR="80879" marT="40439" marB="40439" anchor="ctr"/>
                </a:tc>
                <a:extLst>
                  <a:ext uri="{0D108BD9-81ED-4DB2-BD59-A6C34878D82A}">
                    <a16:rowId xmlns:a16="http://schemas.microsoft.com/office/drawing/2014/main" val="301240390"/>
                  </a:ext>
                </a:extLst>
              </a:tr>
              <a:tr h="299287">
                <a:tc>
                  <a:txBody>
                    <a:bodyPr/>
                    <a:lstStyle/>
                    <a:p>
                      <a:pPr algn="just"/>
                      <a:r>
                        <a:rPr lang="es-PE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de unidades experimentales</a:t>
                      </a:r>
                    </a:p>
                  </a:txBody>
                  <a:tcPr marL="80879" marR="80879" marT="40439" marB="40439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PE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</a:p>
                  </a:txBody>
                  <a:tcPr marL="80879" marR="80879" marT="40439" marB="40439" anchor="ctr"/>
                </a:tc>
                <a:extLst>
                  <a:ext uri="{0D108BD9-81ED-4DB2-BD59-A6C34878D82A}">
                    <a16:rowId xmlns:a16="http://schemas.microsoft.com/office/drawing/2014/main" val="2536524370"/>
                  </a:ext>
                </a:extLst>
              </a:tr>
              <a:tr h="323516">
                <a:tc>
                  <a:txBody>
                    <a:bodyPr/>
                    <a:lstStyle/>
                    <a:p>
                      <a:pPr algn="just"/>
                      <a:r>
                        <a:rPr lang="es-PE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Análisis estadístico</a:t>
                      </a:r>
                    </a:p>
                  </a:txBody>
                  <a:tcPr marL="80879" marR="80879" marT="40439" marB="40439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ANVA y prueba de Tukey</a:t>
                      </a:r>
                    </a:p>
                  </a:txBody>
                  <a:tcPr marL="80879" marR="80879" marT="40439" marB="40439" anchor="ctr"/>
                </a:tc>
                <a:extLst>
                  <a:ext uri="{0D108BD9-81ED-4DB2-BD59-A6C34878D82A}">
                    <a16:rowId xmlns:a16="http://schemas.microsoft.com/office/drawing/2014/main" val="2981824154"/>
                  </a:ext>
                </a:extLst>
              </a:tr>
              <a:tr h="323516">
                <a:tc>
                  <a:txBody>
                    <a:bodyPr/>
                    <a:lstStyle/>
                    <a:p>
                      <a:pPr algn="just"/>
                      <a:r>
                        <a:rPr lang="es-PE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Programa utilizado</a:t>
                      </a:r>
                    </a:p>
                  </a:txBody>
                  <a:tcPr marL="80879" marR="80879" marT="40439" marB="40439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PE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INFOSTAT</a:t>
                      </a:r>
                    </a:p>
                  </a:txBody>
                  <a:tcPr marL="80879" marR="80879" marT="40439" marB="40439" anchor="ctr"/>
                </a:tc>
                <a:extLst>
                  <a:ext uri="{0D108BD9-81ED-4DB2-BD59-A6C34878D82A}">
                    <a16:rowId xmlns:a16="http://schemas.microsoft.com/office/drawing/2014/main" val="1502997440"/>
                  </a:ext>
                </a:extLst>
              </a:tr>
            </a:tbl>
          </a:graphicData>
        </a:graphic>
      </p:graphicFrame>
      <p:sp>
        <p:nvSpPr>
          <p:cNvPr id="23" name="CuadroTexto 22">
            <a:extLst>
              <a:ext uri="{FF2B5EF4-FFF2-40B4-BE49-F238E27FC236}">
                <a16:creationId xmlns:a16="http://schemas.microsoft.com/office/drawing/2014/main" id="{5D944B57-8047-4FCC-83C5-94DC318CE8D6}"/>
              </a:ext>
            </a:extLst>
          </p:cNvPr>
          <p:cNvSpPr txBox="1"/>
          <p:nvPr/>
        </p:nvSpPr>
        <p:spPr>
          <a:xfrm>
            <a:off x="878542" y="2951802"/>
            <a:ext cx="46107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Tabla 2. </a:t>
            </a:r>
            <a:r>
              <a:rPr lang="es-MX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Diseño experimental utilizado en el ensayo in vitro</a:t>
            </a:r>
            <a:endParaRPr lang="es-PE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523ED7F1-C4E2-4AF0-8142-04551B2952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11" y="3295306"/>
            <a:ext cx="5854350" cy="2774667"/>
          </a:xfrm>
          <a:prstGeom prst="rect">
            <a:avLst/>
          </a:prstGeom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526346AA-790D-4023-9EEC-056A08920F7A}"/>
              </a:ext>
            </a:extLst>
          </p:cNvPr>
          <p:cNvSpPr txBox="1"/>
          <p:nvPr/>
        </p:nvSpPr>
        <p:spPr>
          <a:xfrm>
            <a:off x="-2240" y="6069973"/>
            <a:ext cx="6098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Figura </a:t>
            </a:r>
            <a:r>
              <a:rPr lang="es-MX"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s-MX" sz="1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s-MX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Medición del crecimiento radial de </a:t>
            </a:r>
            <a:r>
              <a:rPr lang="es-MX" sz="14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L. </a:t>
            </a:r>
            <a:r>
              <a:rPr lang="es-MX" sz="1400" b="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theobromae</a:t>
            </a:r>
            <a:r>
              <a:rPr lang="es-MX" sz="14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 medio envenenado</a:t>
            </a:r>
            <a:r>
              <a:rPr lang="es-MX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41A624FD-4D17-4404-ABDC-CB6F1D13C74F}"/>
              </a:ext>
            </a:extLst>
          </p:cNvPr>
          <p:cNvSpPr txBox="1"/>
          <p:nvPr/>
        </p:nvSpPr>
        <p:spPr>
          <a:xfrm>
            <a:off x="6032178" y="4007152"/>
            <a:ext cx="6098240" cy="14773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preparó medio PDA, se esterilizó, se enfrió y se añadieron los productos. El medio se vertió en placas Petri, se sembró un disco de micelio de </a:t>
            </a:r>
            <a:r>
              <a:rPr lang="es-MX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L. </a:t>
            </a:r>
            <a:r>
              <a:rPr lang="es-MX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theobromae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se incubó a 25 °C. Se midió diariamente el crecimiento radial en cuatro cuadrantes hasta que el testigo cubrió toda la placa.</a:t>
            </a:r>
            <a:endParaRPr lang="es-P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07D0773F-FD0B-47C9-9A98-39FAFAD95447}"/>
              </a:ext>
            </a:extLst>
          </p:cNvPr>
          <p:cNvSpPr txBox="1"/>
          <p:nvPr/>
        </p:nvSpPr>
        <p:spPr>
          <a:xfrm>
            <a:off x="10748682" y="6069972"/>
            <a:ext cx="1447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(Jiménez, 2023)</a:t>
            </a:r>
          </a:p>
        </p:txBody>
      </p:sp>
    </p:spTree>
    <p:extLst>
      <p:ext uri="{BB962C8B-B14F-4D97-AF65-F5344CB8AC3E}">
        <p14:creationId xmlns:p14="http://schemas.microsoft.com/office/powerpoint/2010/main" val="939121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xfrm>
            <a:off x="6100762" y="6492862"/>
            <a:ext cx="203835" cy="2633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285"/>
              </a:lnSpc>
            </a:pPr>
            <a:fld id="{81D60167-4931-47E6-BA6A-407CBD079E47}" type="slidenum">
              <a:rPr sz="1400" dirty="0"/>
              <a:t>5</a:t>
            </a:fld>
            <a:endParaRPr sz="140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AAA24D2-4B88-4941-B170-89FD24760666}"/>
              </a:ext>
            </a:extLst>
          </p:cNvPr>
          <p:cNvSpPr txBox="1"/>
          <p:nvPr/>
        </p:nvSpPr>
        <p:spPr>
          <a:xfrm>
            <a:off x="61582" y="6524226"/>
            <a:ext cx="5236560" cy="240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ts val="1070"/>
              </a:lnSpc>
            </a:pPr>
            <a:r>
              <a:rPr lang="es-MX" sz="1400"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Maestría </a:t>
            </a:r>
            <a:r>
              <a:rPr lang="es-MX" sz="1400" spc="-4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 Sanidad Vegetal | Diseños Experimentales y Programación </a:t>
            </a:r>
            <a:endParaRPr lang="es-MX" sz="1400" spc="-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3B52C008-4270-4186-BCF9-FD376A2FCEB8}"/>
              </a:ext>
            </a:extLst>
          </p:cNvPr>
          <p:cNvSpPr txBox="1"/>
          <p:nvPr/>
        </p:nvSpPr>
        <p:spPr>
          <a:xfrm>
            <a:off x="1166388" y="44999"/>
            <a:ext cx="36447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IV. RESULTADOS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0F178C6F-B393-40BB-A1CA-23551A27E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39" y="586148"/>
            <a:ext cx="4605987" cy="3810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83AA19F7-2503-4E34-ADC0-08F81C8882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0539" y="378148"/>
            <a:ext cx="4029637" cy="368668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B5050BC-AA2D-4798-8C78-8A1D7E5C8C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0176" y="1302201"/>
            <a:ext cx="2000529" cy="1838582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EEC17271-1AFD-43A8-9CD1-20FDCE26A8FF}"/>
              </a:ext>
            </a:extLst>
          </p:cNvPr>
          <p:cNvSpPr txBox="1"/>
          <p:nvPr/>
        </p:nvSpPr>
        <p:spPr>
          <a:xfrm>
            <a:off x="30206" y="4414077"/>
            <a:ext cx="47809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1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Figura 5. </a:t>
            </a:r>
            <a:r>
              <a:rPr lang="es-MX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Porcentaje de inhibición de los tratamientos T0(testigo), T1(</a:t>
            </a:r>
            <a:r>
              <a:rPr lang="es-MX" sz="12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ProtecSea</a:t>
            </a:r>
            <a:r>
              <a:rPr lang="es-MX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), T3(</a:t>
            </a:r>
            <a:r>
              <a:rPr lang="es-MX" sz="12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Timorex</a:t>
            </a:r>
            <a:r>
              <a:rPr lang="es-MX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Gold), T2 (Barrera) y T4(</a:t>
            </a:r>
            <a:r>
              <a:rPr lang="es-MX" sz="12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Vacun</a:t>
            </a:r>
            <a:r>
              <a:rPr lang="es-MX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12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Qpro</a:t>
            </a:r>
            <a:r>
              <a:rPr lang="es-MX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en crecimiento radial de la colonia de micelios de </a:t>
            </a:r>
            <a:r>
              <a:rPr lang="es-MX" sz="1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L. </a:t>
            </a:r>
            <a:r>
              <a:rPr lang="es-MX" sz="1200" b="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theobromae</a:t>
            </a:r>
            <a:r>
              <a:rPr lang="es-MX" sz="1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 medio envenenado. La barra sobre la columna que representa el error estándar</a:t>
            </a:r>
            <a:r>
              <a:rPr lang="es-MX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s-PE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65E1CAE9-3661-48AF-B84B-C15E18AABE0D}"/>
              </a:ext>
            </a:extLst>
          </p:cNvPr>
          <p:cNvSpPr txBox="1"/>
          <p:nvPr/>
        </p:nvSpPr>
        <p:spPr>
          <a:xfrm>
            <a:off x="5370539" y="4432488"/>
            <a:ext cx="62947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200" b="1" i="0" dirty="0">
                <a:solidFill>
                  <a:srgbClr val="000000"/>
                </a:solidFill>
                <a:effectLst/>
                <a:latin typeface="TimesNewRomanPS-BoldMT"/>
              </a:rPr>
              <a:t>Figura 10</a:t>
            </a:r>
            <a:r>
              <a:rPr lang="es-MX" sz="1200" b="0" i="0" dirty="0">
                <a:solidFill>
                  <a:srgbClr val="000000"/>
                </a:solidFill>
                <a:effectLst/>
                <a:latin typeface="TimesNewRomanPSMT"/>
              </a:rPr>
              <a:t>. Comparación de los tratamientos: T1(</a:t>
            </a:r>
            <a:r>
              <a:rPr lang="es-MX" sz="1200" b="0" i="0" dirty="0" err="1">
                <a:solidFill>
                  <a:srgbClr val="000000"/>
                </a:solidFill>
                <a:effectLst/>
                <a:latin typeface="TimesNewRomanPSMT"/>
              </a:rPr>
              <a:t>ProtecSea</a:t>
            </a:r>
            <a:r>
              <a:rPr lang="es-MX" sz="1200" b="0" i="0" dirty="0">
                <a:solidFill>
                  <a:srgbClr val="000000"/>
                </a:solidFill>
                <a:effectLst/>
                <a:latin typeface="TimesNewRomanPSMT"/>
              </a:rPr>
              <a:t>), T2(Barrera), T3(</a:t>
            </a:r>
            <a:r>
              <a:rPr lang="es-MX" sz="1200" b="0" i="0" dirty="0" err="1">
                <a:solidFill>
                  <a:srgbClr val="000000"/>
                </a:solidFill>
                <a:effectLst/>
                <a:latin typeface="TimesNewRomanPSMT"/>
              </a:rPr>
              <a:t>Timorex</a:t>
            </a:r>
            <a:r>
              <a:rPr lang="es-MX" sz="1200" b="0" i="0" dirty="0">
                <a:solidFill>
                  <a:srgbClr val="000000"/>
                </a:solidFill>
                <a:effectLst/>
                <a:latin typeface="TimesNewRomanPSMT"/>
              </a:rPr>
              <a:t> Gold) y T4(</a:t>
            </a:r>
            <a:r>
              <a:rPr lang="es-MX" sz="1200" b="0" i="0" dirty="0" err="1">
                <a:solidFill>
                  <a:srgbClr val="000000"/>
                </a:solidFill>
                <a:effectLst/>
                <a:latin typeface="TimesNewRomanPSMT"/>
              </a:rPr>
              <a:t>Vacun</a:t>
            </a:r>
            <a:r>
              <a:rPr lang="es-MX" sz="1200" b="0" i="0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es-MX" sz="1200" b="0" i="0" dirty="0" err="1">
                <a:solidFill>
                  <a:srgbClr val="000000"/>
                </a:solidFill>
                <a:effectLst/>
                <a:latin typeface="TimesNewRomanPSMT"/>
              </a:rPr>
              <a:t>Qpro</a:t>
            </a:r>
            <a:r>
              <a:rPr lang="es-MX" sz="1200" b="0" i="0" dirty="0">
                <a:solidFill>
                  <a:srgbClr val="000000"/>
                </a:solidFill>
                <a:effectLst/>
                <a:latin typeface="TimesNewRomanPSMT"/>
              </a:rPr>
              <a:t>) con el tratamiento testigo (T0) en la prueba de envenenamiento de </a:t>
            </a:r>
            <a:r>
              <a:rPr lang="es-MX" sz="1200" b="0" i="1" dirty="0">
                <a:solidFill>
                  <a:srgbClr val="000000"/>
                </a:solidFill>
                <a:effectLst/>
                <a:latin typeface="TimesNewRomanPS-ItalicMT"/>
              </a:rPr>
              <a:t>L. </a:t>
            </a:r>
            <a:r>
              <a:rPr lang="es-MX" sz="1200" b="0" i="1" dirty="0" err="1">
                <a:solidFill>
                  <a:srgbClr val="000000"/>
                </a:solidFill>
                <a:effectLst/>
                <a:latin typeface="TimesNewRomanPS-ItalicMT"/>
              </a:rPr>
              <a:t>theobromae</a:t>
            </a:r>
            <a:r>
              <a:rPr lang="es-MX" sz="1200" dirty="0"/>
              <a:t> </a:t>
            </a:r>
            <a:endParaRPr lang="es-PE" sz="1200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A755AD97-2152-40E4-975E-B2372D9815D9}"/>
              </a:ext>
            </a:extLst>
          </p:cNvPr>
          <p:cNvSpPr txBox="1"/>
          <p:nvPr/>
        </p:nvSpPr>
        <p:spPr>
          <a:xfrm>
            <a:off x="10775576" y="6031969"/>
            <a:ext cx="1447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(Jiménez, 2023)</a:t>
            </a:r>
          </a:p>
        </p:txBody>
      </p:sp>
    </p:spTree>
    <p:extLst>
      <p:ext uri="{BB962C8B-B14F-4D97-AF65-F5344CB8AC3E}">
        <p14:creationId xmlns:p14="http://schemas.microsoft.com/office/powerpoint/2010/main" val="2700484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xfrm>
            <a:off x="6100762" y="6492862"/>
            <a:ext cx="203835" cy="2633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285"/>
              </a:lnSpc>
            </a:pPr>
            <a:fld id="{81D60167-4931-47E6-BA6A-407CBD079E47}" type="slidenum">
              <a:rPr sz="1400" dirty="0"/>
              <a:t>6</a:t>
            </a:fld>
            <a:endParaRPr sz="140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AAA24D2-4B88-4941-B170-89FD24760666}"/>
              </a:ext>
            </a:extLst>
          </p:cNvPr>
          <p:cNvSpPr txBox="1"/>
          <p:nvPr/>
        </p:nvSpPr>
        <p:spPr>
          <a:xfrm>
            <a:off x="61582" y="6524226"/>
            <a:ext cx="5236560" cy="240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ts val="1070"/>
              </a:lnSpc>
            </a:pPr>
            <a:r>
              <a:rPr lang="es-MX" sz="1400"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Maestría </a:t>
            </a:r>
            <a:r>
              <a:rPr lang="es-MX" sz="1400" spc="-4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 Sanidad Vegetal | Diseños Experimentales y Programación </a:t>
            </a:r>
            <a:endParaRPr lang="es-MX" sz="1400" spc="-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3B52C008-4270-4186-BCF9-FD376A2FCEB8}"/>
              </a:ext>
            </a:extLst>
          </p:cNvPr>
          <p:cNvSpPr txBox="1"/>
          <p:nvPr/>
        </p:nvSpPr>
        <p:spPr>
          <a:xfrm>
            <a:off x="3968831" y="106278"/>
            <a:ext cx="36447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V. CONCLUSIÓN</a:t>
            </a:r>
          </a:p>
        </p:txBody>
      </p:sp>
      <p:graphicFrame>
        <p:nvGraphicFramePr>
          <p:cNvPr id="13" name="Diagram 5">
            <a:extLst>
              <a:ext uri="{FF2B5EF4-FFF2-40B4-BE49-F238E27FC236}">
                <a16:creationId xmlns:a16="http://schemas.microsoft.com/office/drawing/2014/main" id="{0F544C82-47C2-419F-895B-BC702B1048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34020358"/>
              </p:ext>
            </p:extLst>
          </p:nvPr>
        </p:nvGraphicFramePr>
        <p:xfrm>
          <a:off x="1447800" y="629498"/>
          <a:ext cx="8686800" cy="2209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5" name="CuadroTexto 14">
            <a:extLst>
              <a:ext uri="{FF2B5EF4-FFF2-40B4-BE49-F238E27FC236}">
                <a16:creationId xmlns:a16="http://schemas.microsoft.com/office/drawing/2014/main" id="{11B73181-6F76-46AF-BC91-4344E9DD46BB}"/>
              </a:ext>
            </a:extLst>
          </p:cNvPr>
          <p:cNvSpPr txBox="1"/>
          <p:nvPr/>
        </p:nvSpPr>
        <p:spPr>
          <a:xfrm>
            <a:off x="10748682" y="5943600"/>
            <a:ext cx="1447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(Jiménez, 2023)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FC01659D-C964-4E34-AA26-3851287A3231}"/>
              </a:ext>
            </a:extLst>
          </p:cNvPr>
          <p:cNvSpPr txBox="1"/>
          <p:nvPr/>
        </p:nvSpPr>
        <p:spPr>
          <a:xfrm>
            <a:off x="3733800" y="2320559"/>
            <a:ext cx="36447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VI. REFERENCIA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1F937C2A-D5C3-4A12-89A2-DB2D90A56687}"/>
              </a:ext>
            </a:extLst>
          </p:cNvPr>
          <p:cNvSpPr txBox="1"/>
          <p:nvPr/>
        </p:nvSpPr>
        <p:spPr>
          <a:xfrm>
            <a:off x="1257300" y="3123063"/>
            <a:ext cx="9677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Jiménez, N. V. (2023). </a:t>
            </a:r>
            <a:r>
              <a:rPr lang="es-MX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Inducción de resistencia a </a:t>
            </a:r>
            <a:r>
              <a:rPr lang="es-MX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Lasiodiplodia</a:t>
            </a:r>
            <a:r>
              <a:rPr lang="es-MX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theobromae</a:t>
            </a:r>
            <a:r>
              <a:rPr lang="es-MX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 palto (</a:t>
            </a:r>
            <a:r>
              <a:rPr lang="es-MX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Persea</a:t>
            </a:r>
            <a:r>
              <a:rPr lang="es-MX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americana Mill.) en condiciones de La Molina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[Tesis de grado, Universidad Nacional Agraria La Molina]. Repositorio Institucional UNALM. https://hdl.handle.net/20.500.12996/5766 </a:t>
            </a:r>
          </a:p>
          <a:p>
            <a:endParaRPr lang="es-P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6499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86680" y="3032505"/>
            <a:ext cx="286766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395" dirty="0">
                <a:solidFill>
                  <a:srgbClr val="FFFFFF"/>
                </a:solidFill>
                <a:latin typeface="Arial"/>
                <a:cs typeface="Arial"/>
              </a:rPr>
              <a:t>¡Gr</a:t>
            </a:r>
            <a:r>
              <a:rPr sz="6000" spc="-43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6000" spc="-409" dirty="0">
                <a:solidFill>
                  <a:srgbClr val="FFFFFF"/>
                </a:solidFill>
                <a:latin typeface="Arial"/>
                <a:cs typeface="Arial"/>
              </a:rPr>
              <a:t>cias!</a:t>
            </a:r>
            <a:endParaRPr sz="6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11032</TotalTime>
  <Words>679</Words>
  <Application>Microsoft Office PowerPoint</Application>
  <PresentationFormat>Panorámica</PresentationFormat>
  <Paragraphs>65</Paragraphs>
  <Slides>7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4" baseType="lpstr">
      <vt:lpstr>Arial</vt:lpstr>
      <vt:lpstr>Calibri</vt:lpstr>
      <vt:lpstr>Times New Roman</vt:lpstr>
      <vt:lpstr>TimesNewRomanPS-BoldMT</vt:lpstr>
      <vt:lpstr>TimesNewRomanPS-ItalicMT</vt:lpstr>
      <vt:lpstr>TimesNewRomanPSMT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¡Gracias!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HP</dc:creator>
  <cp:lastModifiedBy>ERIKA LLAJA</cp:lastModifiedBy>
  <cp:revision>178</cp:revision>
  <dcterms:created xsi:type="dcterms:W3CDTF">2024-09-21T16:53:34Z</dcterms:created>
  <dcterms:modified xsi:type="dcterms:W3CDTF">2026-05-24T07:43:11Z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2024-09-01T00:00:00Z</vt:filetime>
  </property>
  <property fmtid="{D5CDD505-2E9C-101B-9397-08002B2CF9AE}" pid="3" name="Creator">
    <vt:lpwstr>Microsoft® PowerPoint® para Microsoft 365</vt:lpwstr>
  </property>
  <property fmtid="{D5CDD505-2E9C-101B-9397-08002B2CF9AE}" pid="4" name="LastSaved">
    <vt:filetime>2024-09-21T00:00:00Z</vt:filetime>
  </property>
</Properties>
</file>